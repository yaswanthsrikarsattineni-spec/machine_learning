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67" r:id="rId2"/>
    <p:sldId id="256" r:id="rId3"/>
    <p:sldId id="257" r:id="rId4"/>
    <p:sldId id="270" r:id="rId5"/>
    <p:sldId id="262" r:id="rId6"/>
    <p:sldId id="272" r:id="rId7"/>
    <p:sldId id="258" r:id="rId8"/>
    <p:sldId id="259" r:id="rId9"/>
    <p:sldId id="260" r:id="rId10"/>
    <p:sldId id="27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A23554-1671-490B-BD02-AD429BC37409}" v="12" dt="2026-09-29T06:18:58.0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609" y="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wanth Srikar Sattineni" userId="1451b2bc418eaf6e" providerId="LiveId" clId="{10C73CFB-0EA1-4AD9-B284-844E93ACC621}"/>
    <pc:docChg chg="undo custSel addSld delSld modSld sldOrd">
      <pc:chgData name="Yaswanth Srikar Sattineni" userId="1451b2bc418eaf6e" providerId="LiveId" clId="{10C73CFB-0EA1-4AD9-B284-844E93ACC621}" dt="2026-09-29T06:57:16.915" v="167" actId="478"/>
      <pc:docMkLst>
        <pc:docMk/>
      </pc:docMkLst>
      <pc:sldChg chg="delSp mod">
        <pc:chgData name="Yaswanth Srikar Sattineni" userId="1451b2bc418eaf6e" providerId="LiveId" clId="{10C73CFB-0EA1-4AD9-B284-844E93ACC621}" dt="2026-09-29T06:57:16.915" v="167" actId="478"/>
        <pc:sldMkLst>
          <pc:docMk/>
          <pc:sldMk cId="0" sldId="257"/>
        </pc:sldMkLst>
        <pc:spChg chg="del">
          <ac:chgData name="Yaswanth Srikar Sattineni" userId="1451b2bc418eaf6e" providerId="LiveId" clId="{10C73CFB-0EA1-4AD9-B284-844E93ACC621}" dt="2026-09-29T06:57:16.915" v="167" actId="478"/>
          <ac:spMkLst>
            <pc:docMk/>
            <pc:sldMk cId="0" sldId="257"/>
            <ac:spMk id="22" creationId="{00000000-0000-0000-0000-000000000000}"/>
          </ac:spMkLst>
        </pc:spChg>
      </pc:sldChg>
      <pc:sldChg chg="ord">
        <pc:chgData name="Yaswanth Srikar Sattineni" userId="1451b2bc418eaf6e" providerId="LiveId" clId="{10C73CFB-0EA1-4AD9-B284-844E93ACC621}" dt="2026-09-29T06:18:11.245" v="83"/>
        <pc:sldMkLst>
          <pc:docMk/>
          <pc:sldMk cId="0" sldId="258"/>
        </pc:sldMkLst>
      </pc:sldChg>
      <pc:sldChg chg="del">
        <pc:chgData name="Yaswanth Srikar Sattineni" userId="1451b2bc418eaf6e" providerId="LiveId" clId="{10C73CFB-0EA1-4AD9-B284-844E93ACC621}" dt="2026-09-28T16:14:24.917" v="1" actId="2696"/>
        <pc:sldMkLst>
          <pc:docMk/>
          <pc:sldMk cId="2388646526" sldId="261"/>
        </pc:sldMkLst>
      </pc:sldChg>
      <pc:sldChg chg="addSp delSp modSp add mod">
        <pc:chgData name="Yaswanth Srikar Sattineni" userId="1451b2bc418eaf6e" providerId="LiveId" clId="{10C73CFB-0EA1-4AD9-B284-844E93ACC621}" dt="2026-09-29T06:51:38.601" v="113" actId="931"/>
        <pc:sldMkLst>
          <pc:docMk/>
          <pc:sldMk cId="0" sldId="262"/>
        </pc:sldMkLst>
        <pc:spChg chg="mod">
          <ac:chgData name="Yaswanth Srikar Sattineni" userId="1451b2bc418eaf6e" providerId="LiveId" clId="{10C73CFB-0EA1-4AD9-B284-844E93ACC621}" dt="2026-09-29T06:23:05.102" v="93" actId="20577"/>
          <ac:spMkLst>
            <pc:docMk/>
            <pc:sldMk cId="0" sldId="262"/>
            <ac:spMk id="3" creationId="{00000000-0000-0000-0000-000000000000}"/>
          </ac:spMkLst>
        </pc:spChg>
        <pc:spChg chg="add">
          <ac:chgData name="Yaswanth Srikar Sattineni" userId="1451b2bc418eaf6e" providerId="LiveId" clId="{10C73CFB-0EA1-4AD9-B284-844E93ACC621}" dt="2026-09-29T06:23:03.095" v="91" actId="22"/>
          <ac:spMkLst>
            <pc:docMk/>
            <pc:sldMk cId="0" sldId="262"/>
            <ac:spMk id="5" creationId="{DD85E1BC-1A53-003A-20C3-B2583BC80D1E}"/>
          </ac:spMkLst>
        </pc:spChg>
        <pc:picChg chg="add del mod">
          <ac:chgData name="Yaswanth Srikar Sattineni" userId="1451b2bc418eaf6e" providerId="LiveId" clId="{10C73CFB-0EA1-4AD9-B284-844E93ACC621}" dt="2026-09-29T06:51:38.601" v="113" actId="931"/>
          <ac:picMkLst>
            <pc:docMk/>
            <pc:sldMk cId="0" sldId="262"/>
            <ac:picMk id="7" creationId="{E9D701E2-378C-1E95-4CE4-B1BC2C399162}"/>
          </ac:picMkLst>
        </pc:picChg>
      </pc:sldChg>
      <pc:sldChg chg="modSp add mod">
        <pc:chgData name="Yaswanth Srikar Sattineni" userId="1451b2bc418eaf6e" providerId="LiveId" clId="{10C73CFB-0EA1-4AD9-B284-844E93ACC621}" dt="2026-09-28T16:18:56.743" v="75" actId="1076"/>
        <pc:sldMkLst>
          <pc:docMk/>
          <pc:sldMk cId="0" sldId="267"/>
        </pc:sldMkLst>
        <pc:spChg chg="mod">
          <ac:chgData name="Yaswanth Srikar Sattineni" userId="1451b2bc418eaf6e" providerId="LiveId" clId="{10C73CFB-0EA1-4AD9-B284-844E93ACC621}" dt="2026-09-28T16:18:51.045" v="73" actId="6549"/>
          <ac:spMkLst>
            <pc:docMk/>
            <pc:sldMk cId="0" sldId="267"/>
            <ac:spMk id="2" creationId="{00000000-0000-0000-0000-000000000000}"/>
          </ac:spMkLst>
        </pc:spChg>
        <pc:spChg chg="mod">
          <ac:chgData name="Yaswanth Srikar Sattineni" userId="1451b2bc418eaf6e" providerId="LiveId" clId="{10C73CFB-0EA1-4AD9-B284-844E93ACC621}" dt="2026-09-28T16:18:54.175" v="74" actId="1076"/>
          <ac:spMkLst>
            <pc:docMk/>
            <pc:sldMk cId="0" sldId="267"/>
            <ac:spMk id="3" creationId="{00000000-0000-0000-0000-000000000000}"/>
          </ac:spMkLst>
        </pc:spChg>
        <pc:spChg chg="mod">
          <ac:chgData name="Yaswanth Srikar Sattineni" userId="1451b2bc418eaf6e" providerId="LiveId" clId="{10C73CFB-0EA1-4AD9-B284-844E93ACC621}" dt="2026-09-28T16:18:56.743" v="75" actId="1076"/>
          <ac:spMkLst>
            <pc:docMk/>
            <pc:sldMk cId="0" sldId="267"/>
            <ac:spMk id="4" creationId="{00000000-0000-0000-0000-000000000000}"/>
          </ac:spMkLst>
        </pc:spChg>
      </pc:sldChg>
      <pc:sldChg chg="add del">
        <pc:chgData name="Yaswanth Srikar Sattineni" userId="1451b2bc418eaf6e" providerId="LiveId" clId="{10C73CFB-0EA1-4AD9-B284-844E93ACC621}" dt="2026-09-29T06:20:18.581" v="85" actId="2696"/>
        <pc:sldMkLst>
          <pc:docMk/>
          <pc:sldMk cId="0" sldId="268"/>
        </pc:sldMkLst>
      </pc:sldChg>
      <pc:sldChg chg="add del">
        <pc:chgData name="Yaswanth Srikar Sattineni" userId="1451b2bc418eaf6e" providerId="LiveId" clId="{10C73CFB-0EA1-4AD9-B284-844E93ACC621}" dt="2026-09-29T06:11:15.855" v="77"/>
        <pc:sldMkLst>
          <pc:docMk/>
          <pc:sldMk cId="2181138691" sldId="268"/>
        </pc:sldMkLst>
      </pc:sldChg>
      <pc:sldChg chg="add del">
        <pc:chgData name="Yaswanth Srikar Sattineni" userId="1451b2bc418eaf6e" providerId="LiveId" clId="{10C73CFB-0EA1-4AD9-B284-844E93ACC621}" dt="2026-09-29T06:20:59.110" v="86" actId="2696"/>
        <pc:sldMkLst>
          <pc:docMk/>
          <pc:sldMk cId="0" sldId="269"/>
        </pc:sldMkLst>
      </pc:sldChg>
      <pc:sldChg chg="addSp modSp add mod">
        <pc:chgData name="Yaswanth Srikar Sattineni" userId="1451b2bc418eaf6e" providerId="LiveId" clId="{10C73CFB-0EA1-4AD9-B284-844E93ACC621}" dt="2026-09-29T06:22:57.901" v="90" actId="20577"/>
        <pc:sldMkLst>
          <pc:docMk/>
          <pc:sldMk cId="0" sldId="270"/>
        </pc:sldMkLst>
        <pc:spChg chg="mod">
          <ac:chgData name="Yaswanth Srikar Sattineni" userId="1451b2bc418eaf6e" providerId="LiveId" clId="{10C73CFB-0EA1-4AD9-B284-844E93ACC621}" dt="2026-09-29T06:22:57.901" v="90" actId="20577"/>
          <ac:spMkLst>
            <pc:docMk/>
            <pc:sldMk cId="0" sldId="270"/>
            <ac:spMk id="3" creationId="{00000000-0000-0000-0000-000000000000}"/>
          </ac:spMkLst>
        </pc:spChg>
        <pc:spChg chg="add">
          <ac:chgData name="Yaswanth Srikar Sattineni" userId="1451b2bc418eaf6e" providerId="LiveId" clId="{10C73CFB-0EA1-4AD9-B284-844E93ACC621}" dt="2026-09-29T06:22:54.239" v="88" actId="22"/>
          <ac:spMkLst>
            <pc:docMk/>
            <pc:sldMk cId="0" sldId="270"/>
            <ac:spMk id="5" creationId="{691F5BED-4C09-5B5D-F7FB-7A1FCE191C82}"/>
          </ac:spMkLst>
        </pc:spChg>
      </pc:sldChg>
      <pc:sldChg chg="add del">
        <pc:chgData name="Yaswanth Srikar Sattineni" userId="1451b2bc418eaf6e" providerId="LiveId" clId="{10C73CFB-0EA1-4AD9-B284-844E93ACC621}" dt="2026-09-29T06:21:08.954" v="87" actId="2696"/>
        <pc:sldMkLst>
          <pc:docMk/>
          <pc:sldMk cId="0" sldId="271"/>
        </pc:sldMkLst>
      </pc:sldChg>
      <pc:sldChg chg="addSp delSp modSp new mod modClrScheme chgLayout">
        <pc:chgData name="Yaswanth Srikar Sattineni" userId="1451b2bc418eaf6e" providerId="LiveId" clId="{10C73CFB-0EA1-4AD9-B284-844E93ACC621}" dt="2026-09-29T06:23:47.187" v="110" actId="1076"/>
        <pc:sldMkLst>
          <pc:docMk/>
          <pc:sldMk cId="231674116" sldId="271"/>
        </pc:sldMkLst>
        <pc:spChg chg="add mod">
          <ac:chgData name="Yaswanth Srikar Sattineni" userId="1451b2bc418eaf6e" providerId="LiveId" clId="{10C73CFB-0EA1-4AD9-B284-844E93ACC621}" dt="2026-09-29T06:23:47.187" v="110" actId="1076"/>
          <ac:spMkLst>
            <pc:docMk/>
            <pc:sldMk cId="231674116" sldId="271"/>
            <ac:spMk id="2" creationId="{98A29308-99B2-9E97-877C-280884B0B5F2}"/>
          </ac:spMkLst>
        </pc:spChg>
        <pc:spChg chg="add del mod">
          <ac:chgData name="Yaswanth Srikar Sattineni" userId="1451b2bc418eaf6e" providerId="LiveId" clId="{10C73CFB-0EA1-4AD9-B284-844E93ACC621}" dt="2026-09-29T06:23:26.211" v="96" actId="478"/>
          <ac:spMkLst>
            <pc:docMk/>
            <pc:sldMk cId="231674116" sldId="271"/>
            <ac:spMk id="3" creationId="{753315D6-F41A-73AE-7D92-916838B916BF}"/>
          </ac:spMkLst>
        </pc:spChg>
      </pc:sldChg>
      <pc:sldChg chg="addSp delSp modSp new mod chgLayout">
        <pc:chgData name="Yaswanth Srikar Sattineni" userId="1451b2bc418eaf6e" providerId="LiveId" clId="{10C73CFB-0EA1-4AD9-B284-844E93ACC621}" dt="2026-09-29T06:54:05.264" v="166" actId="14100"/>
        <pc:sldMkLst>
          <pc:docMk/>
          <pc:sldMk cId="3821354176" sldId="272"/>
        </pc:sldMkLst>
        <pc:spChg chg="del">
          <ac:chgData name="Yaswanth Srikar Sattineni" userId="1451b2bc418eaf6e" providerId="LiveId" clId="{10C73CFB-0EA1-4AD9-B284-844E93ACC621}" dt="2026-09-29T06:51:47.273" v="115" actId="478"/>
          <ac:spMkLst>
            <pc:docMk/>
            <pc:sldMk cId="3821354176" sldId="272"/>
            <ac:spMk id="2" creationId="{DEB05141-25F4-0363-9AD0-FFB587DCE8DA}"/>
          </ac:spMkLst>
        </pc:spChg>
        <pc:spChg chg="add del mod ord">
          <ac:chgData name="Yaswanth Srikar Sattineni" userId="1451b2bc418eaf6e" providerId="LiveId" clId="{10C73CFB-0EA1-4AD9-B284-844E93ACC621}" dt="2026-09-29T06:53:49.976" v="164" actId="478"/>
          <ac:spMkLst>
            <pc:docMk/>
            <pc:sldMk cId="3821354176" sldId="272"/>
            <ac:spMk id="5" creationId="{DDBF3A21-0A0E-AF51-B5A1-2DD50689A9DB}"/>
          </ac:spMkLst>
        </pc:spChg>
        <pc:spChg chg="add del mod">
          <ac:chgData name="Yaswanth Srikar Sattineni" userId="1451b2bc418eaf6e" providerId="LiveId" clId="{10C73CFB-0EA1-4AD9-B284-844E93ACC621}" dt="2026-09-29T06:53:54.049" v="165" actId="478"/>
          <ac:spMkLst>
            <pc:docMk/>
            <pc:sldMk cId="3821354176" sldId="272"/>
            <ac:spMk id="7" creationId="{C1A63B3A-DB19-0A0A-980E-E0A62176CB1B}"/>
          </ac:spMkLst>
        </pc:spChg>
        <pc:picChg chg="add mod">
          <ac:chgData name="Yaswanth Srikar Sattineni" userId="1451b2bc418eaf6e" providerId="LiveId" clId="{10C73CFB-0EA1-4AD9-B284-844E93ACC621}" dt="2026-09-29T06:54:05.264" v="166" actId="14100"/>
          <ac:picMkLst>
            <pc:docMk/>
            <pc:sldMk cId="3821354176" sldId="272"/>
            <ac:picMk id="4" creationId="{BA0AC86C-B48D-35B5-6ABA-40BA9F917E0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0E8E82-61AC-48A7-938F-CB19E857E628}" type="datetimeFigureOut">
              <a:rPr lang="en-IN" smtClean="0"/>
              <a:t>29-09-2026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D97028-8AF6-416B-9D35-4719C6CED3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151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3688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4582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3200" b="1" dirty="0"/>
              <a:t>LSTM Autoencoder-Based Persistent and Transient Anomaly Classification in Open RAN KPIs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640080" y="2671734"/>
            <a:ext cx="10881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
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Omprakash Jena — 2520040057
Yaswanth Srikar Sattineni — 2520040026
Rishi Vardhan Motukuri - 2520040078
</a:t>
            </a: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 </a:t>
            </a:r>
            <a:r>
              <a:rPr lang="en-IN" sz="1400" dirty="0"/>
              <a:t>Mr. V. Venu Balaji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 </a:t>
            </a: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ECE KL University, Hyderabad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309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2025–26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18160" y="48691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743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18160" y="1108710"/>
            <a:ext cx="11155680" cy="32004"/>
          </a:xfrm>
          <a:prstGeom prst="rect">
            <a:avLst/>
          </a:prstGeom>
          <a:solidFill>
            <a:srgbClr val="26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810512"/>
            <a:ext cx="6675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rPr dirty="0"/>
              <a:t>Open RAN produces continuous radio KPI time-series data whose normal behavior changes over time.</a:t>
            </a:r>
          </a:p>
          <a:p>
            <a:pPr>
              <a:spcAft>
                <a:spcPts val="8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rPr dirty="0"/>
              <a:t>Abnormal KPI behavior may be temporary (transient) or continue for a longer period (persistent).</a:t>
            </a:r>
          </a:p>
          <a:p>
            <a:pPr>
              <a:spcAft>
                <a:spcPts val="8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rPr dirty="0"/>
              <a:t>Fixed threshold rules can miss temporal patterns and can generate unnecessary alarms.</a:t>
            </a:r>
          </a:p>
          <a:p>
            <a:pPr>
              <a:spcAft>
                <a:spcPts val="800"/>
              </a:spcAft>
              <a:defRPr sz="1800">
                <a:solidFill>
                  <a:srgbClr val="232A32"/>
                </a:solidFill>
                <a:latin typeface="Aptos"/>
              </a:defRPr>
            </a:pPr>
            <a:r>
              <a:rPr dirty="0"/>
              <a:t>The project aims to detect abnormal KPI windows using an LSTM autoencoder and then classify the detected event by duration.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18120" y="1417320"/>
            <a:ext cx="3429000" cy="713232"/>
          </a:xfrm>
          <a:prstGeom prst="roundRect">
            <a:avLst/>
          </a:prstGeom>
          <a:solidFill>
            <a:srgbClr val="E7F4EB"/>
          </a:solidFill>
          <a:ln w="15240">
            <a:solidFill>
              <a:srgbClr val="338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32A32"/>
                </a:solidFill>
                <a:latin typeface="Aptos"/>
              </a:defRPr>
            </a:pPr>
            <a:r>
              <a:t>Normal KPI sequence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2331720"/>
            <a:ext cx="38404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A32"/>
                </a:solidFill>
                <a:latin typeface="Aptos"/>
              </a:defRPr>
            </a:pPr>
            <a:r>
              <a:t>92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66760" y="2331720"/>
            <a:ext cx="38404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A32"/>
                </a:solidFill>
                <a:latin typeface="Aptos"/>
              </a:defRPr>
            </a:pPr>
            <a:r>
              <a:t>95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2331720"/>
            <a:ext cx="38404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A32"/>
                </a:solidFill>
                <a:latin typeface="Aptos"/>
              </a:defRPr>
            </a:pPr>
            <a:r>
              <a:t>91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81160" y="2331720"/>
            <a:ext cx="38404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A32"/>
                </a:solidFill>
                <a:latin typeface="Aptos"/>
              </a:defRPr>
            </a:pPr>
            <a:r>
              <a:t>94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38360" y="2331720"/>
            <a:ext cx="38404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A32"/>
                </a:solidFill>
                <a:latin typeface="Aptos"/>
              </a:defRPr>
            </a:pPr>
            <a:r>
              <a:t>90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95560" y="2331720"/>
            <a:ext cx="38404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A32"/>
                </a:solidFill>
                <a:latin typeface="Aptos"/>
              </a:defRPr>
            </a:pPr>
            <a:r>
              <a:t>96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52760" y="2331720"/>
            <a:ext cx="384048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A32"/>
                </a:solidFill>
                <a:latin typeface="Aptos"/>
              </a:defRPr>
            </a:pPr>
            <a:r>
              <a:t>93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2971800"/>
            <a:ext cx="3429000" cy="713232"/>
          </a:xfrm>
          <a:prstGeom prst="roundRect">
            <a:avLst/>
          </a:prstGeom>
          <a:solidFill>
            <a:srgbClr val="FAF1DE"/>
          </a:solidFill>
          <a:ln w="15240">
            <a:solidFill>
              <a:srgbClr val="C48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32A32"/>
                </a:solidFill>
                <a:latin typeface="Aptos"/>
              </a:defRPr>
            </a:pPr>
            <a:r>
              <a:t>Transient anomaly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1" y="3858768"/>
            <a:ext cx="438912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A32"/>
                </a:solidFill>
                <a:latin typeface="Aptos"/>
              </a:defRPr>
            </a:pPr>
            <a:r>
              <a:t>92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58784" y="3858768"/>
            <a:ext cx="438912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A32"/>
                </a:solidFill>
                <a:latin typeface="Aptos"/>
              </a:defRPr>
            </a:pPr>
            <a:r>
              <a:t>95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89136" y="3858768"/>
            <a:ext cx="438912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48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A32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19488" y="3858768"/>
            <a:ext cx="438912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A32"/>
                </a:solidFill>
                <a:latin typeface="Aptos"/>
              </a:defRPr>
            </a:pPr>
            <a:r>
              <a:t>93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149840" y="3858768"/>
            <a:ext cx="438912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A32"/>
                </a:solidFill>
                <a:latin typeface="Aptos"/>
              </a:defRPr>
            </a:pPr>
            <a:r>
              <a:t>96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680192" y="3858768"/>
            <a:ext cx="438912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A32"/>
                </a:solidFill>
                <a:latin typeface="Aptos"/>
              </a:defRPr>
            </a:pPr>
            <a:r>
              <a:t>94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4480560"/>
            <a:ext cx="3429000" cy="713232"/>
          </a:xfrm>
          <a:prstGeom prst="roundRect">
            <a:avLst/>
          </a:prstGeom>
          <a:solidFill>
            <a:srgbClr val="F9E7E7"/>
          </a:solidFill>
          <a:ln w="15240">
            <a:solidFill>
              <a:srgbClr val="B1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32A32"/>
                </a:solidFill>
                <a:latin typeface="Aptos"/>
              </a:defRPr>
            </a:pPr>
            <a:r>
              <a:t>Persistent anomaly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28431" y="5349240"/>
            <a:ext cx="438912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1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A32"/>
                </a:solidFill>
                <a:latin typeface="Aptos"/>
              </a:defRPr>
            </a:pPr>
            <a:r>
              <a:t>30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58784" y="5349240"/>
            <a:ext cx="438912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1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A32"/>
                </a:solidFill>
                <a:latin typeface="Aptos"/>
              </a:defRPr>
            </a:pPr>
            <a:r>
              <a:t>28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89136" y="5349240"/>
            <a:ext cx="438912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1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A32"/>
                </a:solidFill>
                <a:latin typeface="Aptos"/>
              </a:defRPr>
            </a:pPr>
            <a:r>
              <a:t>32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19488" y="5349240"/>
            <a:ext cx="438912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1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A32"/>
                </a:solidFill>
                <a:latin typeface="Aptos"/>
              </a:defRPr>
            </a:pPr>
            <a:r>
              <a:t>27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49840" y="5349240"/>
            <a:ext cx="438912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1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A32"/>
                </a:solidFill>
                <a:latin typeface="Aptos"/>
              </a:defRPr>
            </a:pPr>
            <a:r>
              <a:t>29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80192" y="5349240"/>
            <a:ext cx="438912" cy="3840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1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32A32"/>
                </a:solidFill>
                <a:latin typeface="Aptos"/>
              </a:defRPr>
            </a:pPr>
            <a:r>
              <a:t>31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E78"/>
                </a:solidFill>
                <a:latin typeface="Aptos"/>
              </a:defRPr>
            </a:pPr>
            <a:r>
              <a:t>Open RAN KPI anomaly detection • Project status: in progress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743"/>
                </a:solidFill>
                <a:latin typeface="Aptos Display"/>
              </a:defRPr>
            </a:pPr>
            <a:r>
              <a:t>Proposed Methodology / Algorithm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55680" cy="32004"/>
          </a:xfrm>
          <a:prstGeom prst="rect">
            <a:avLst/>
          </a:prstGeom>
          <a:solidFill>
            <a:srgbClr val="26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64591" y="1819655"/>
            <a:ext cx="1170432" cy="960120"/>
          </a:xfrm>
          <a:prstGeom prst="roundRect">
            <a:avLst/>
          </a:prstGeom>
          <a:solidFill>
            <a:srgbClr val="E5F0FA"/>
          </a:solidFill>
          <a:ln w="15240">
            <a:solidFill>
              <a:srgbClr val="26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232A32"/>
                </a:solidFill>
                <a:latin typeface="Aptos"/>
              </a:defRPr>
            </a:pPr>
            <a:r>
              <a:t>Open RAN</a:t>
            </a:r>
            <a:br/>
            <a:r>
              <a:t>KPIs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335023" y="2308860"/>
            <a:ext cx="164591" cy="0"/>
          </a:xfrm>
          <a:prstGeom prst="line">
            <a:avLst/>
          </a:prstGeom>
          <a:ln w="1905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499614" y="1842516"/>
            <a:ext cx="1170432" cy="960120"/>
          </a:xfrm>
          <a:prstGeom prst="roundRect">
            <a:avLst/>
          </a:prstGeom>
          <a:solidFill>
            <a:srgbClr val="E5F0FA"/>
          </a:solidFill>
          <a:ln w="15240">
            <a:solidFill>
              <a:srgbClr val="26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232A32"/>
                </a:solidFill>
                <a:latin typeface="Aptos"/>
              </a:defRPr>
            </a:pPr>
            <a:r>
              <a:rPr dirty="0"/>
              <a:t>Preprocess</a:t>
            </a:r>
            <a:br>
              <a:rPr dirty="0"/>
            </a:br>
            <a:r>
              <a:rPr dirty="0"/>
              <a:t>&amp; scale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70046" y="2308860"/>
            <a:ext cx="164592" cy="0"/>
          </a:xfrm>
          <a:prstGeom prst="line">
            <a:avLst/>
          </a:prstGeom>
          <a:ln w="1905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843785" y="1842516"/>
            <a:ext cx="1170432" cy="960120"/>
          </a:xfrm>
          <a:prstGeom prst="roundRect">
            <a:avLst/>
          </a:prstGeom>
          <a:solidFill>
            <a:srgbClr val="E5F0FA"/>
          </a:solidFill>
          <a:ln w="15240">
            <a:solidFill>
              <a:srgbClr val="26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232A32"/>
                </a:solidFill>
                <a:latin typeface="Aptos"/>
              </a:defRPr>
            </a:pPr>
            <a:r>
              <a:t>20-sample</a:t>
            </a:r>
            <a:br/>
            <a:r>
              <a:t>windows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032504" y="2323242"/>
            <a:ext cx="164592" cy="0"/>
          </a:xfrm>
          <a:prstGeom prst="line">
            <a:avLst/>
          </a:prstGeom>
          <a:ln w="1905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197096" y="1842516"/>
            <a:ext cx="1170432" cy="960120"/>
          </a:xfrm>
          <a:prstGeom prst="roundRect">
            <a:avLst/>
          </a:prstGeom>
          <a:solidFill>
            <a:srgbClr val="E8EBFA"/>
          </a:solidFill>
          <a:ln w="15240">
            <a:solidFill>
              <a:srgbClr val="53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232A32"/>
                </a:solidFill>
                <a:latin typeface="Aptos"/>
              </a:defRPr>
            </a:pPr>
            <a:r>
              <a:t>LSTM</a:t>
            </a:r>
            <a:br/>
            <a:r>
              <a:t>Autoencoder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67528" y="2323242"/>
            <a:ext cx="164592" cy="0"/>
          </a:xfrm>
          <a:prstGeom prst="line">
            <a:avLst/>
          </a:prstGeom>
          <a:ln w="1905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532120" y="1819655"/>
            <a:ext cx="1170432" cy="960120"/>
          </a:xfrm>
          <a:prstGeom prst="roundRect">
            <a:avLst/>
          </a:prstGeom>
          <a:solidFill>
            <a:srgbClr val="FAF1DE"/>
          </a:solidFill>
          <a:ln w="15240">
            <a:solidFill>
              <a:srgbClr val="C48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232A32"/>
                </a:solidFill>
                <a:latin typeface="Aptos"/>
              </a:defRPr>
            </a:pPr>
            <a:r>
              <a:t>Reconstruction</a:t>
            </a:r>
            <a:br/>
            <a:r>
              <a:t>error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702552" y="2323908"/>
            <a:ext cx="164592" cy="0"/>
          </a:xfrm>
          <a:prstGeom prst="line">
            <a:avLst/>
          </a:prstGeom>
          <a:ln w="1905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885431" y="1843848"/>
            <a:ext cx="1170432" cy="960120"/>
          </a:xfrm>
          <a:prstGeom prst="roundRect">
            <a:avLst/>
          </a:prstGeom>
          <a:solidFill>
            <a:srgbClr val="FAF1DE"/>
          </a:solidFill>
          <a:ln w="15240">
            <a:solidFill>
              <a:srgbClr val="C48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232A32"/>
                </a:solidFill>
                <a:latin typeface="Aptos"/>
              </a:defRPr>
            </a:pPr>
            <a:r>
              <a:t>Threshold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55863" y="2324574"/>
            <a:ext cx="164593" cy="0"/>
          </a:xfrm>
          <a:prstGeom prst="line">
            <a:avLst/>
          </a:prstGeom>
          <a:ln w="1905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229602" y="1844514"/>
            <a:ext cx="1170432" cy="960120"/>
          </a:xfrm>
          <a:prstGeom prst="roundRect">
            <a:avLst/>
          </a:prstGeom>
          <a:solidFill>
            <a:srgbClr val="F9E7E7"/>
          </a:solidFill>
          <a:ln w="15240">
            <a:solidFill>
              <a:srgbClr val="B1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232A32"/>
                </a:solidFill>
                <a:latin typeface="Aptos"/>
              </a:defRPr>
            </a:pPr>
            <a:r>
              <a:t>Anomaly</a:t>
            </a:r>
            <a:br/>
            <a:r>
              <a:t>window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400034" y="2299715"/>
            <a:ext cx="164592" cy="0"/>
          </a:xfrm>
          <a:prstGeom prst="line">
            <a:avLst/>
          </a:prstGeom>
          <a:ln w="1905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582913" y="1844514"/>
            <a:ext cx="1170432" cy="960120"/>
          </a:xfrm>
          <a:prstGeom prst="roundRect">
            <a:avLst/>
          </a:prstGeom>
          <a:solidFill>
            <a:srgbClr val="E7F4EB"/>
          </a:solidFill>
          <a:ln w="15240">
            <a:solidFill>
              <a:srgbClr val="338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232A32"/>
                </a:solidFill>
                <a:latin typeface="Aptos"/>
              </a:defRPr>
            </a:pPr>
            <a:r>
              <a:t>Duration</a:t>
            </a:r>
            <a:br/>
            <a:r>
              <a:t>analysis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753345" y="2299715"/>
            <a:ext cx="164593" cy="0"/>
          </a:xfrm>
          <a:prstGeom prst="line">
            <a:avLst/>
          </a:prstGeom>
          <a:ln w="1905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936224" y="1842516"/>
            <a:ext cx="1170432" cy="960120"/>
          </a:xfrm>
          <a:prstGeom prst="roundRect">
            <a:avLst/>
          </a:prstGeom>
          <a:solidFill>
            <a:srgbClr val="E7F4EB"/>
          </a:solidFill>
          <a:ln w="15240">
            <a:solidFill>
              <a:srgbClr val="338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232A32"/>
                </a:solidFill>
                <a:latin typeface="Aptos"/>
              </a:defRPr>
            </a:pPr>
            <a:r>
              <a:t>Transient /</a:t>
            </a:r>
            <a:br/>
            <a:r>
              <a:t>Persistent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543299"/>
            <a:ext cx="3383280" cy="1417320"/>
          </a:xfrm>
          <a:prstGeom prst="roundRect">
            <a:avLst/>
          </a:prstGeom>
          <a:solidFill>
            <a:srgbClr val="E7F4EB"/>
          </a:solidFill>
          <a:ln w="15240">
            <a:solidFill>
              <a:srgbClr val="338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32A32"/>
                </a:solidFill>
                <a:latin typeface="Aptos"/>
              </a:defRPr>
            </a:pPr>
            <a:r>
              <a:t>Training</a:t>
            </a:r>
            <a:br/>
            <a:r>
              <a:t>• 40 normal recordings</a:t>
            </a:r>
            <a:br/>
            <a:r>
              <a:t>• LSTM AE learns normal reconstruction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59" y="3527585"/>
            <a:ext cx="3383280" cy="1417320"/>
          </a:xfrm>
          <a:prstGeom prst="roundRect">
            <a:avLst/>
          </a:prstGeom>
          <a:solidFill>
            <a:srgbClr val="FAF1DE"/>
          </a:solidFill>
          <a:ln w="15240">
            <a:solidFill>
              <a:srgbClr val="C48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0">
                <a:solidFill>
                  <a:srgbClr val="232A32"/>
                </a:solidFill>
                <a:latin typeface="Aptos"/>
              </a:defRPr>
            </a:pPr>
            <a:r>
              <a:t>Decision</a:t>
            </a:r>
            <a:br/>
            <a:r>
              <a:t>• Selected threshold ≈ 0.02894</a:t>
            </a:r>
            <a:br/>
            <a:r>
              <a:t>• 3 windows ≈ 9 s for persistence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E78"/>
                </a:solidFill>
                <a:latin typeface="Aptos"/>
              </a:defRPr>
            </a:pPr>
            <a:r>
              <a:t>Proposed pipeline implemented in the current repository; persistence is duration-based, not a second learned classifier.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57200"/>
            <a:ext cx="260565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 Project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Open RAN → KPI Data → Preprocessing → Time Windows</a:t>
            </a:r>
          </a:p>
          <a:p>
            <a:pPr>
              <a:spcAft>
                <a:spcPts val="1400"/>
              </a:spcAft>
              <a:defRPr sz="2200"/>
            </a:pPr>
            <a:r>
              <a:t>↓</a:t>
            </a:r>
          </a:p>
          <a:p>
            <a:pPr>
              <a:spcAft>
                <a:spcPts val="1400"/>
              </a:spcAft>
              <a:defRPr sz="2200"/>
            </a:pPr>
            <a:r>
              <a:t>LSTM Autoencoder → Reconstruction Error</a:t>
            </a:r>
          </a:p>
          <a:p>
            <a:pPr>
              <a:spcAft>
                <a:spcPts val="1400"/>
              </a:spcAft>
              <a:defRPr sz="2200"/>
            </a:pPr>
            <a:r>
              <a:t>↓</a:t>
            </a:r>
          </a:p>
          <a:p>
            <a:pPr>
              <a:spcAft>
                <a:spcPts val="1400"/>
              </a:spcAft>
              <a:defRPr sz="2200"/>
            </a:pPr>
            <a:r>
              <a:t>Error above threshold → Anomaly</a:t>
            </a:r>
          </a:p>
          <a:p>
            <a:pPr>
              <a:spcAft>
                <a:spcPts val="1400"/>
              </a:spcAft>
              <a:defRPr sz="2200"/>
            </a:pPr>
            <a:r>
              <a:t>↓</a:t>
            </a:r>
          </a:p>
          <a:p>
            <a:pPr>
              <a:spcAft>
                <a:spcPts val="1400"/>
              </a:spcAft>
              <a:defRPr sz="2200"/>
            </a:pPr>
            <a:r>
              <a:t>Short duration → Transient | Long duration → Persistent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1F5BED-4C09-5B5D-F7FB-7A1FCE191C82}"/>
              </a:ext>
            </a:extLst>
          </p:cNvPr>
          <p:cNvSpPr/>
          <p:nvPr/>
        </p:nvSpPr>
        <p:spPr>
          <a:xfrm>
            <a:off x="518160" y="1108710"/>
            <a:ext cx="11155680" cy="32004"/>
          </a:xfrm>
          <a:prstGeom prst="rect">
            <a:avLst/>
          </a:prstGeom>
          <a:solidFill>
            <a:srgbClr val="26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457200"/>
            <a:ext cx="493615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 Expected Output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Final output: NORMAL / TRANSIENT ANOMALY / PERSISTENT ANOMALY.</a:t>
            </a:r>
          </a:p>
          <a:p>
            <a:pPr>
              <a:spcAft>
                <a:spcPts val="1400"/>
              </a:spcAft>
              <a:defRPr sz="2200"/>
            </a:pPr>
            <a:r>
              <a:t>Evaluate using Precision, Recall and F1-score.</a:t>
            </a:r>
          </a:p>
          <a:p>
            <a:pPr>
              <a:spcAft>
                <a:spcPts val="1400"/>
              </a:spcAft>
              <a:defRPr sz="2200"/>
            </a:pPr>
            <a:r>
              <a:t>Also consider false-alarm rate, detection delay and persistent-anomaly classification accuracy.</a:t>
            </a:r>
          </a:p>
          <a:p>
            <a:pPr>
              <a:spcAft>
                <a:spcPts val="1400"/>
              </a:spcAft>
              <a:defRPr sz="2200"/>
            </a:pPr>
            <a:r>
              <a:t>Research direction: detect persistent problems as early as possible.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85E1BC-1A53-003A-20C3-B2583BC80D1E}"/>
              </a:ext>
            </a:extLst>
          </p:cNvPr>
          <p:cNvSpPr/>
          <p:nvPr/>
        </p:nvSpPr>
        <p:spPr>
          <a:xfrm>
            <a:off x="518160" y="1108710"/>
            <a:ext cx="11155680" cy="32004"/>
          </a:xfrm>
          <a:prstGeom prst="rect">
            <a:avLst/>
          </a:prstGeom>
          <a:solidFill>
            <a:srgbClr val="26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A0AC86C-B48D-35B5-6ABA-40BA9F917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354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743"/>
                </a:solidFill>
                <a:latin typeface="Aptos Display"/>
              </a:defRPr>
            </a:pPr>
            <a:r>
              <a:t>Project Workflow /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55680" cy="32004"/>
          </a:xfrm>
          <a:prstGeom prst="rect">
            <a:avLst/>
          </a:prstGeom>
          <a:solidFill>
            <a:srgbClr val="26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1508760" cy="530352"/>
          </a:xfrm>
          <a:prstGeom prst="roundRect">
            <a:avLst/>
          </a:prstGeom>
          <a:solidFill>
            <a:srgbClr val="F3F5F7"/>
          </a:solidFill>
          <a:ln w="15240">
            <a:solidFill>
              <a:srgbClr val="338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A32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3160" y="1225296"/>
            <a:ext cx="4251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A32"/>
                </a:solidFill>
                <a:latin typeface="Aptos"/>
              </a:defRPr>
            </a:pPr>
            <a:r>
              <a:t>57 baseline + 16 anomaly recordings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444752" y="1764792"/>
            <a:ext cx="0" cy="256032"/>
          </a:xfrm>
          <a:prstGeom prst="line">
            <a:avLst/>
          </a:prstGeom>
          <a:ln w="1524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85800" y="2020824"/>
            <a:ext cx="1508760" cy="530352"/>
          </a:xfrm>
          <a:prstGeom prst="roundRect">
            <a:avLst/>
          </a:prstGeom>
          <a:solidFill>
            <a:srgbClr val="F3F5F7"/>
          </a:solidFill>
          <a:ln w="15240">
            <a:solidFill>
              <a:srgbClr val="26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A32"/>
                </a:solidFill>
                <a:latin typeface="Aptos"/>
              </a:defRPr>
            </a:pPr>
            <a:r>
              <a:t>Preprocessing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2011680"/>
            <a:ext cx="4251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A32"/>
                </a:solidFill>
                <a:latin typeface="Aptos"/>
              </a:defRPr>
            </a:pPr>
            <a:r>
              <a:t>timestamp handling, interpolation, scaling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44752" y="2551176"/>
            <a:ext cx="0" cy="256032"/>
          </a:xfrm>
          <a:prstGeom prst="line">
            <a:avLst/>
          </a:prstGeom>
          <a:ln w="1524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85800" y="2807208"/>
            <a:ext cx="1508760" cy="530352"/>
          </a:xfrm>
          <a:prstGeom prst="roundRect">
            <a:avLst/>
          </a:prstGeom>
          <a:solidFill>
            <a:srgbClr val="F3F5F7"/>
          </a:solidFill>
          <a:ln w="15240">
            <a:solidFill>
              <a:srgbClr val="26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A32"/>
                </a:solidFill>
                <a:latin typeface="Aptos"/>
              </a:defRPr>
            </a:pPr>
            <a:r>
              <a:t>Windowing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798064"/>
            <a:ext cx="4251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A32"/>
                </a:solidFill>
                <a:latin typeface="Aptos"/>
              </a:defRPr>
            </a:pPr>
            <a:r>
              <a:t>20 samples × 12 KPIs; step = 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44752" y="3337560"/>
            <a:ext cx="0" cy="256032"/>
          </a:xfrm>
          <a:prstGeom prst="line">
            <a:avLst/>
          </a:prstGeom>
          <a:ln w="1524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5800" y="3593592"/>
            <a:ext cx="1508760" cy="530352"/>
          </a:xfrm>
          <a:prstGeom prst="roundRect">
            <a:avLst/>
          </a:prstGeom>
          <a:solidFill>
            <a:srgbClr val="F3F5F7"/>
          </a:solidFill>
          <a:ln w="15240">
            <a:solidFill>
              <a:srgbClr val="535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A32"/>
                </a:solidFill>
                <a:latin typeface="Aptos"/>
              </a:defRPr>
            </a:pPr>
            <a:r>
              <a:t>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3584448"/>
            <a:ext cx="4251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A32"/>
                </a:solidFill>
                <a:latin typeface="Aptos"/>
              </a:defRPr>
            </a:pPr>
            <a:r>
              <a:t>normal baseline recordings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44752" y="4123944"/>
            <a:ext cx="0" cy="256032"/>
          </a:xfrm>
          <a:prstGeom prst="line">
            <a:avLst/>
          </a:prstGeom>
          <a:ln w="1524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85800" y="4379976"/>
            <a:ext cx="1508760" cy="530352"/>
          </a:xfrm>
          <a:prstGeom prst="roundRect">
            <a:avLst/>
          </a:prstGeom>
          <a:solidFill>
            <a:srgbClr val="F3F5F7"/>
          </a:solidFill>
          <a:ln w="15240">
            <a:solidFill>
              <a:srgbClr val="C48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A32"/>
                </a:solidFill>
                <a:latin typeface="Aptos"/>
              </a:defRPr>
            </a:pPr>
            <a:r>
              <a:t>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4370832"/>
            <a:ext cx="4251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A32"/>
                </a:solidFill>
                <a:latin typeface="Aptos"/>
              </a:defRPr>
            </a:pPr>
            <a:r>
              <a:t>reconstruction error &gt; threshold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44752" y="4910328"/>
            <a:ext cx="0" cy="256032"/>
          </a:xfrm>
          <a:prstGeom prst="line">
            <a:avLst/>
          </a:prstGeom>
          <a:ln w="15240">
            <a:solidFill>
              <a:srgbClr val="646E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85800" y="5166360"/>
            <a:ext cx="1508760" cy="530352"/>
          </a:xfrm>
          <a:prstGeom prst="roundRect">
            <a:avLst/>
          </a:prstGeom>
          <a:solidFill>
            <a:srgbClr val="F3F5F7"/>
          </a:solidFill>
          <a:ln w="15240">
            <a:solidFill>
              <a:srgbClr val="338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A32"/>
                </a:solidFill>
                <a:latin typeface="Aptos"/>
              </a:defRPr>
            </a:pPr>
            <a:r>
              <a:t>Event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5157216"/>
            <a:ext cx="4251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50">
                <a:solidFill>
                  <a:srgbClr val="232A32"/>
                </a:solidFill>
                <a:latin typeface="Aptos"/>
              </a:defRPr>
            </a:pPr>
            <a:r>
              <a:t>group windows + duration classification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1234440"/>
            <a:ext cx="4160520" cy="566928"/>
          </a:xfrm>
          <a:prstGeom prst="roundRect">
            <a:avLst/>
          </a:prstGeom>
          <a:solidFill>
            <a:srgbClr val="E5F0FA"/>
          </a:solidFill>
          <a:ln w="15240">
            <a:solidFill>
              <a:srgbClr val="26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32A32"/>
                </a:solidFill>
                <a:latin typeface="Aptos"/>
              </a:defRPr>
            </a:pPr>
            <a:r>
              <a:t>Current repository outputs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86600" y="1965960"/>
            <a:ext cx="288036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0">
                <a:solidFill>
                  <a:srgbClr val="232A32"/>
                </a:solidFill>
                <a:latin typeface="Aptos"/>
              </a:defRPr>
            </a:pPr>
            <a:r>
              <a:t>Model + scaler + threshold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104120" y="1965960"/>
            <a:ext cx="1143000" cy="457200"/>
          </a:xfrm>
          <a:prstGeom prst="roundRect">
            <a:avLst/>
          </a:prstGeom>
          <a:solidFill>
            <a:srgbClr val="E7F4EB"/>
          </a:solidFill>
          <a:ln w="15240">
            <a:solidFill>
              <a:srgbClr val="338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A32"/>
                </a:solidFill>
                <a:latin typeface="Aptos"/>
              </a:defRPr>
            </a:pPr>
            <a:r>
              <a:t>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86600" y="2624328"/>
            <a:ext cx="288036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0">
                <a:solidFill>
                  <a:srgbClr val="232A32"/>
                </a:solidFill>
                <a:latin typeface="Aptos"/>
              </a:defRPr>
            </a:pPr>
            <a:r>
              <a:t>Training history + figures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04120" y="2624328"/>
            <a:ext cx="1143000" cy="457200"/>
          </a:xfrm>
          <a:prstGeom prst="roundRect">
            <a:avLst/>
          </a:prstGeom>
          <a:solidFill>
            <a:srgbClr val="E7F4EB"/>
          </a:solidFill>
          <a:ln w="15240">
            <a:solidFill>
              <a:srgbClr val="338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A32"/>
                </a:solidFill>
                <a:latin typeface="Aptos"/>
              </a:defRPr>
            </a:pPr>
            <a:r>
              <a:t>Available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86600" y="3282696"/>
            <a:ext cx="288036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0">
                <a:solidFill>
                  <a:srgbClr val="232A32"/>
                </a:solidFill>
                <a:latin typeface="Aptos"/>
              </a:defRPr>
            </a:pPr>
            <a:r>
              <a:t>Window predictions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04120" y="3282696"/>
            <a:ext cx="1143000" cy="457200"/>
          </a:xfrm>
          <a:prstGeom prst="roundRect">
            <a:avLst/>
          </a:prstGeom>
          <a:solidFill>
            <a:srgbClr val="E7F4EB"/>
          </a:solidFill>
          <a:ln w="15240">
            <a:solidFill>
              <a:srgbClr val="338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A32"/>
                </a:solidFill>
                <a:latin typeface="Aptos"/>
              </a:defRPr>
            </a:pPr>
            <a:r>
              <a:t>Available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86600" y="3941064"/>
            <a:ext cx="288036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0">
                <a:solidFill>
                  <a:srgbClr val="232A32"/>
                </a:solidFill>
                <a:latin typeface="Aptos"/>
              </a:defRPr>
            </a:pPr>
            <a:r>
              <a:t>Detection/event metrics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104120" y="3941064"/>
            <a:ext cx="1143000" cy="457200"/>
          </a:xfrm>
          <a:prstGeom prst="roundRect">
            <a:avLst/>
          </a:prstGeom>
          <a:solidFill>
            <a:srgbClr val="E7F4EB"/>
          </a:solidFill>
          <a:ln w="15240">
            <a:solidFill>
              <a:srgbClr val="338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A32"/>
                </a:solidFill>
                <a:latin typeface="Aptos"/>
              </a:defRPr>
            </a:pPr>
            <a:r>
              <a:t>Available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86600" y="4599431"/>
            <a:ext cx="288036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0">
                <a:solidFill>
                  <a:srgbClr val="232A32"/>
                </a:solidFill>
                <a:latin typeface="Aptos"/>
              </a:defRPr>
            </a:pPr>
            <a:r>
              <a:t>Robust persistence validation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04120" y="4599431"/>
            <a:ext cx="1143000" cy="457200"/>
          </a:xfrm>
          <a:prstGeom prst="roundRect">
            <a:avLst/>
          </a:prstGeom>
          <a:solidFill>
            <a:srgbClr val="F9E7E7"/>
          </a:solidFill>
          <a:ln w="15240">
            <a:solidFill>
              <a:srgbClr val="B1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232A32"/>
                </a:solidFill>
                <a:latin typeface="Aptos"/>
              </a:defRPr>
            </a:pPr>
            <a:r>
              <a:t>Needs work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086600" y="5440680"/>
            <a:ext cx="4160520" cy="658368"/>
          </a:xfrm>
          <a:prstGeom prst="roundRect">
            <a:avLst/>
          </a:prstGeom>
          <a:solidFill>
            <a:srgbClr val="F3F5F7"/>
          </a:solidFill>
          <a:ln w="15240">
            <a:solidFill>
              <a:srgbClr val="646E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232A32"/>
                </a:solidFill>
                <a:latin typeface="Aptos"/>
              </a:defRPr>
            </a:pPr>
            <a:r>
              <a:t>12 selected radio KPIs • 100 training epochs completed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E78"/>
                </a:solidFill>
                <a:latin typeface="Aptos"/>
              </a:defRPr>
            </a:pPr>
            <a:r>
              <a:t>Open RAN KPI anomaly detection • Project status: in progress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743"/>
                </a:solidFill>
                <a:latin typeface="Aptos Display"/>
              </a:defRPr>
            </a:pPr>
            <a:r>
              <a:t>Simulation / Experimental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55680" cy="32004"/>
          </a:xfrm>
          <a:prstGeom prst="rect">
            <a:avLst/>
          </a:prstGeom>
          <a:solidFill>
            <a:srgbClr val="26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4360" y="1143000"/>
            <a:ext cx="1600200" cy="1024128"/>
          </a:xfrm>
          <a:prstGeom prst="roundRect">
            <a:avLst/>
          </a:prstGeom>
          <a:solidFill>
            <a:srgbClr val="E5F0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32743"/>
                </a:solidFill>
                <a:latin typeface="Aptos Display"/>
              </a:defRPr>
            </a:pPr>
            <a:r>
              <a:t>58.1%</a:t>
            </a:r>
          </a:p>
          <a:p>
            <a:pPr algn="ctr">
              <a:defRPr sz="1050">
                <a:solidFill>
                  <a:srgbClr val="232A32"/>
                </a:solidFill>
                <a:latin typeface="Aptos"/>
              </a:defRPr>
            </a:pPr>
            <a:r>
              <a:t>Anomaly recall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31720" y="1143000"/>
            <a:ext cx="1600200" cy="1024128"/>
          </a:xfrm>
          <a:prstGeom prst="roundRect">
            <a:avLst/>
          </a:prstGeom>
          <a:solidFill>
            <a:srgbClr val="FAF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32743"/>
                </a:solidFill>
                <a:latin typeface="Aptos Display"/>
              </a:defRPr>
            </a:pPr>
            <a:r>
              <a:t>28.6%</a:t>
            </a:r>
          </a:p>
          <a:p>
            <a:pPr algn="ctr">
              <a:defRPr sz="1050">
                <a:solidFill>
                  <a:srgbClr val="232A32"/>
                </a:solidFill>
                <a:latin typeface="Aptos"/>
              </a:defRPr>
            </a:pPr>
            <a:r>
              <a:t>Anomaly precision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69080" y="1143000"/>
            <a:ext cx="1600200" cy="1024128"/>
          </a:xfrm>
          <a:prstGeom prst="roundRect">
            <a:avLst/>
          </a:prstGeom>
          <a:solidFill>
            <a:srgbClr val="F9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32743"/>
                </a:solidFill>
                <a:latin typeface="Aptos Display"/>
              </a:defRPr>
            </a:pPr>
            <a:r>
              <a:t>38.3%</a:t>
            </a:r>
          </a:p>
          <a:p>
            <a:pPr algn="ctr">
              <a:defRPr sz="1050">
                <a:solidFill>
                  <a:srgbClr val="232A32"/>
                </a:solidFill>
                <a:latin typeface="Aptos"/>
              </a:defRPr>
            </a:pPr>
            <a:r>
              <a:t>Anomaly F1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6440" y="1143000"/>
            <a:ext cx="1600200" cy="1024128"/>
          </a:xfrm>
          <a:prstGeom prst="roundRect">
            <a:avLst/>
          </a:prstGeom>
          <a:solidFill>
            <a:srgbClr val="E7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32743"/>
                </a:solidFill>
                <a:latin typeface="Aptos Display"/>
              </a:defRPr>
            </a:pPr>
            <a:r>
              <a:t>68.8%</a:t>
            </a:r>
          </a:p>
          <a:p>
            <a:pPr algn="ctr">
              <a:defRPr sz="1050">
                <a:solidFill>
                  <a:srgbClr val="232A32"/>
                </a:solidFill>
                <a:latin typeface="Aptos"/>
              </a:defRPr>
            </a:pPr>
            <a:r>
              <a:t>ROC-AUC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143000"/>
            <a:ext cx="1600200" cy="1024128"/>
          </a:xfrm>
          <a:prstGeom prst="roundRect">
            <a:avLst/>
          </a:prstGeom>
          <a:solidFill>
            <a:srgbClr val="FAF1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32743"/>
                </a:solidFill>
                <a:latin typeface="Aptos Display"/>
              </a:defRPr>
            </a:pPr>
            <a:r>
              <a:t>24.6%</a:t>
            </a:r>
          </a:p>
          <a:p>
            <a:pPr algn="ctr">
              <a:defRPr sz="1050">
                <a:solidFill>
                  <a:srgbClr val="232A32"/>
                </a:solidFill>
                <a:latin typeface="Aptos"/>
              </a:defRPr>
            </a:pPr>
            <a:r>
              <a:t>Window false-alarm 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81160" y="1143000"/>
            <a:ext cx="2240280" cy="1024128"/>
          </a:xfrm>
          <a:prstGeom prst="roundRect">
            <a:avLst/>
          </a:prstGeom>
          <a:solidFill>
            <a:srgbClr val="F9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32743"/>
                </a:solidFill>
                <a:latin typeface="Aptos Display"/>
              </a:defRPr>
            </a:pPr>
            <a:r>
              <a:t>3.9%</a:t>
            </a:r>
          </a:p>
          <a:p>
            <a:pPr algn="ctr">
              <a:defRPr sz="1050">
                <a:solidFill>
                  <a:srgbClr val="232A32"/>
                </a:solidFill>
                <a:latin typeface="Aptos"/>
              </a:defRPr>
            </a:pPr>
            <a:r>
              <a:t>Event precision</a:t>
            </a:r>
          </a:p>
        </p:txBody>
      </p:sp>
      <p:pic>
        <p:nvPicPr>
          <p:cNvPr id="10" name="Picture 9" descr="training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423160"/>
            <a:ext cx="5440680" cy="3108960"/>
          </a:xfrm>
          <a:prstGeom prst="rect">
            <a:avLst/>
          </a:prstGeom>
        </p:spPr>
      </p:pic>
      <p:pic>
        <p:nvPicPr>
          <p:cNvPr id="11" name="Picture 10" descr="anomaly_tim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423160"/>
            <a:ext cx="5440680" cy="2176272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685800" y="5989320"/>
            <a:ext cx="10927080" cy="411480"/>
          </a:xfrm>
          <a:prstGeom prst="roundRect">
            <a:avLst/>
          </a:prstGeom>
          <a:solidFill>
            <a:srgbClr val="F9E7E7"/>
          </a:solidFill>
          <a:ln w="15240">
            <a:solidFill>
              <a:srgbClr val="B1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232A32"/>
                </a:solidFill>
                <a:latin typeface="Aptos"/>
              </a:defRPr>
            </a:pPr>
            <a:r>
              <a:t>Interpretation: anomalies are detected, but the large number of predicted events (1,719 vs 69 true events) shows substantial false-alarm/event-fragmentation issues.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E78"/>
                </a:solidFill>
                <a:latin typeface="Aptos"/>
              </a:defRPr>
            </a:pPr>
            <a:r>
              <a:t>Results taken from results/final_results.json and results/tables/*.csv in the supplied project.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32743"/>
                </a:solidFill>
                <a:latin typeface="Aptos Display"/>
              </a:defRPr>
            </a:pPr>
            <a:r>
              <a:t>Current Progress &amp; Remaining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50392"/>
            <a:ext cx="11155680" cy="32004"/>
          </a:xfrm>
          <a:prstGeom prst="rect">
            <a:avLst/>
          </a:prstGeom>
          <a:solidFill>
            <a:srgbClr val="26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4360" y="1188720"/>
            <a:ext cx="5394960" cy="594360"/>
          </a:xfrm>
          <a:prstGeom prst="roundRect">
            <a:avLst/>
          </a:prstGeom>
          <a:solidFill>
            <a:srgbClr val="E7F4EB"/>
          </a:solidFill>
          <a:ln w="15240">
            <a:solidFill>
              <a:srgbClr val="3385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2A32"/>
                </a:solidFill>
                <a:latin typeface="Aptos"/>
              </a:defRPr>
            </a:pPr>
            <a:r>
              <a:t>Completed / available in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50">
                <a:solidFill>
                  <a:srgbClr val="232A32"/>
                </a:solidFill>
                <a:latin typeface="Aptos"/>
              </a:defRPr>
            </a:pPr>
            <a:r>
              <a:t>Data split and leakage-aware preprocessing pipeline</a:t>
            </a:r>
          </a:p>
          <a:p>
            <a:pPr>
              <a:spcAft>
                <a:spcPts val="800"/>
              </a:spcAft>
              <a:defRPr sz="1450">
                <a:solidFill>
                  <a:srgbClr val="232A32"/>
                </a:solidFill>
                <a:latin typeface="Aptos"/>
              </a:defRPr>
            </a:pPr>
            <a:r>
              <a:t>12-feature time-window generation</a:t>
            </a:r>
          </a:p>
          <a:p>
            <a:pPr>
              <a:spcAft>
                <a:spcPts val="800"/>
              </a:spcAft>
              <a:defRPr sz="1450">
                <a:solidFill>
                  <a:srgbClr val="232A32"/>
                </a:solidFill>
                <a:latin typeface="Aptos"/>
              </a:defRPr>
            </a:pPr>
            <a:r>
              <a:t>LSTM autoencoder model and saved trained weights</a:t>
            </a:r>
          </a:p>
          <a:p>
            <a:pPr>
              <a:spcAft>
                <a:spcPts val="800"/>
              </a:spcAft>
              <a:defRPr sz="1450">
                <a:solidFill>
                  <a:srgbClr val="232A32"/>
                </a:solidFill>
                <a:latin typeface="Aptos"/>
              </a:defRPr>
            </a:pPr>
            <a:r>
              <a:t>Normal-validation threshold selection and saved threshold</a:t>
            </a:r>
          </a:p>
          <a:p>
            <a:pPr>
              <a:spcAft>
                <a:spcPts val="800"/>
              </a:spcAft>
              <a:defRPr sz="1450">
                <a:solidFill>
                  <a:srgbClr val="232A32"/>
                </a:solidFill>
                <a:latin typeface="Aptos"/>
              </a:defRPr>
            </a:pPr>
            <a:r>
              <a:t>Prediction files, figures, and window/event-level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394960" cy="594360"/>
          </a:xfrm>
          <a:prstGeom prst="roundRect">
            <a:avLst/>
          </a:prstGeom>
          <a:solidFill>
            <a:srgbClr val="F9E7E7"/>
          </a:solidFill>
          <a:ln w="15240">
            <a:solidFill>
              <a:srgbClr val="B1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32A32"/>
                </a:solidFill>
                <a:latin typeface="Aptos"/>
              </a:defRPr>
            </a:pPr>
            <a:r>
              <a:t>Remaining work / key loopholes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20240"/>
            <a:ext cx="50292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50">
                <a:solidFill>
                  <a:srgbClr val="232A32"/>
                </a:solidFill>
                <a:latin typeface="Aptos"/>
              </a:defRPr>
            </a:pPr>
            <a:r>
              <a:t>Reduce false positives and improve event-level precision.</a:t>
            </a:r>
          </a:p>
          <a:p>
            <a:pPr>
              <a:spcAft>
                <a:spcPts val="800"/>
              </a:spcAft>
              <a:defRPr sz="1450">
                <a:solidFill>
                  <a:srgbClr val="232A32"/>
                </a:solidFill>
                <a:latin typeface="Aptos"/>
              </a:defRPr>
            </a:pPr>
            <a:r>
              <a:t>Strengthen transient vs persistent classification and validate the ~9 s criterion.</a:t>
            </a:r>
          </a:p>
          <a:p>
            <a:pPr>
              <a:spcAft>
                <a:spcPts val="800"/>
              </a:spcAft>
              <a:defRPr sz="1450">
                <a:solidFill>
                  <a:srgbClr val="232A32"/>
                </a:solidFill>
                <a:latin typeface="Aptos"/>
              </a:defRPr>
            </a:pPr>
            <a:r>
              <a:t>Test robustness across anomaly scenarios and recording conditions.</a:t>
            </a:r>
          </a:p>
          <a:p>
            <a:pPr>
              <a:spcAft>
                <a:spcPts val="800"/>
              </a:spcAft>
              <a:defRPr sz="1450">
                <a:solidFill>
                  <a:srgbClr val="232A32"/>
                </a:solidFill>
                <a:latin typeface="Aptos"/>
              </a:defRPr>
            </a:pPr>
            <a:r>
              <a:t>Resolve configuration/documentation consistency (e.g., threshold selection description).</a:t>
            </a:r>
          </a:p>
          <a:p>
            <a:pPr>
              <a:spcAft>
                <a:spcPts val="800"/>
              </a:spcAft>
              <a:defRPr sz="1450">
                <a:solidFill>
                  <a:srgbClr val="232A32"/>
                </a:solidFill>
                <a:latin typeface="Aptos"/>
              </a:defRPr>
            </a:pPr>
            <a:r>
              <a:t>Add stronger baselines/comparisons and repeat validation before claiming final performance.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5715000"/>
            <a:ext cx="7955279" cy="566928"/>
          </a:xfrm>
          <a:prstGeom prst="roundRect">
            <a:avLst/>
          </a:prstGeom>
          <a:solidFill>
            <a:srgbClr val="FAF1DE"/>
          </a:solidFill>
          <a:ln w="15240">
            <a:solidFill>
              <a:srgbClr val="C48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32A32"/>
                </a:solidFill>
                <a:latin typeface="Aptos"/>
              </a:defRPr>
            </a:pPr>
            <a:r>
              <a:t>Overall status: functional prototype with measurable results, but not yet a final validated research system.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46E78"/>
                </a:solidFill>
                <a:latin typeface="Aptos"/>
              </a:defRPr>
            </a:pPr>
            <a:r>
              <a:t>Open RAN KPI anomaly detection • Project status: in progress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29308-99B2-9E97-877C-280884B0B5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9800" y="2387877"/>
            <a:ext cx="7772400" cy="1470025"/>
          </a:xfrm>
        </p:spPr>
        <p:txBody>
          <a:bodyPr>
            <a:noAutofit/>
          </a:bodyPr>
          <a:lstStyle/>
          <a:p>
            <a:r>
              <a:rPr lang="en-IN" sz="96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1674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621</Words>
  <Application>Microsoft Office PowerPoint</Application>
  <PresentationFormat>Widescreen</PresentationFormat>
  <Paragraphs>115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Yaswanth Srikar Sattineni</cp:lastModifiedBy>
  <cp:revision>3</cp:revision>
  <dcterms:created xsi:type="dcterms:W3CDTF">2013-01-27T09:14:16Z</dcterms:created>
  <dcterms:modified xsi:type="dcterms:W3CDTF">2026-09-29T06:57:27Z</dcterms:modified>
  <cp:category/>
</cp:coreProperties>
</file>